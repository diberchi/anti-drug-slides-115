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k5GkIaRUlsM" TargetMode="Externa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Ydw9sa7XW9c" TargetMode="Externa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6cwthmcb8EE" TargetMode="Externa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DuqGXL_hm_Y" TargetMode="Externa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Mu8rbqiXjW8" TargetMode="Externa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s4N2eqxRJDE" TargetMode="Externa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ntidrug.nmns.edu.tw/vision/" TargetMode="Externa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line.me/R/ti/p/@0800770885tainan" TargetMode="External"/><Relationship Id="rId4" Type="http://schemas.openxmlformats.org/officeDocument/2006/relationships/image" Target="../media/image9.png"/><Relationship Id="rId5" Type="http://schemas.openxmlformats.org/officeDocument/2006/relationships/hyperlink" Target="https://sdap.tn.edu.tw/Index.html" TargetMode="External"/><Relationship Id="rId6" Type="http://schemas.openxmlformats.org/officeDocument/2006/relationships/image" Target="../media/image10.png"/><Relationship Id="rId7" Type="http://schemas.openxmlformats.org/officeDocument/2006/relationships/hyperlink" Target="https://enc.moe.edu.tw/hom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Microsoft JhengHei"/>
              </a:defRPr>
            </a:pPr>
            <a:r>
              <a:t>🛡️ 臺南市 115 年度防制學生藥物濫用校園宣講</a:t>
            </a:r>
          </a:p>
          <a:p>
            <a:pPr algn="ctr">
              <a:spcBef>
                <a:spcPts val="1400"/>
              </a:spcBef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拒毒防衛隊 · 校園健康好夥伴</a:t>
            </a:r>
          </a:p>
          <a:p>
            <a:pPr algn="ctr">
              <a:spcBef>
                <a:spcPts val="1200"/>
              </a:spcBef>
              <a:defRPr sz="2200">
                <a:solidFill>
                  <a:srgbClr val="CBD5E1"/>
                </a:solidFill>
                <a:latin typeface="Microsoft JhengHei"/>
              </a:defRPr>
            </a:pPr>
            <a:r>
              <a:t>學會辨識偽裝陷阱 · 堅定拒絕誘惑 · 守護純淨美好校園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11680" y="4297680"/>
            <a:ext cx="816833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🏫 承辦學校：臺南市新營區新進國民小學（學務處 生教組）</a:t>
            </a:r>
          </a:p>
          <a:p>
            <a:pPr algn="ctr">
              <a:spcBef>
                <a:spcPts val="800"/>
              </a:spcBef>
              <a:defRPr sz="1600">
                <a:solidFill>
                  <a:srgbClr val="94A3B8"/>
                </a:solidFill>
                <a:latin typeface="Microsoft JhengHei"/>
              </a:defRPr>
            </a:pPr>
            <a:r>
              <a:t>🎒 宣講對象：五年級、六年級全體同學 ｜ 📅 宣導時程：115.09.22 ~ 115.10.01</a:t>
            </a:r>
          </a:p>
          <a:p>
            <a:pPr algn="ctr">
              <a:spcBef>
                <a:spcPts val="600"/>
              </a:spcBef>
              <a:defRPr sz="1400">
                <a:solidFill>
                  <a:srgbClr val="38BDF8"/>
                </a:solidFill>
                <a:latin typeface="Microsoft JhengHei"/>
              </a:defRPr>
            </a:pPr>
            <a:r>
              <a:t>💻 線上互動版：https://diberchi.github.io/anti-drug-slides-115/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🎬 官方宣導影音 ① · 臺南市政府毒防中心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新興毒品偽裝術：小心「糖衣陷阱」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Microsoft JhengHei"/>
              </a:defRPr>
            </a:pPr>
            <a:r>
              <a:t>🎬 官方推薦播放影音</a:t>
            </a:r>
          </a:p>
          <a:p>
            <a:pPr>
              <a:spcBef>
                <a:spcPts val="1000"/>
              </a:spcBef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反毒宣導短片—如何辨別新興毒品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觀看網址 (點擊或於瀏覽器開啟)：</a:t>
            </a:r>
          </a:p>
          <a:p>
            <a:pPr>
              <a:spcBef>
                <a:spcPts val="400"/>
              </a:spcBef>
              <a:defRPr sz="1300" b="1">
                <a:latin typeface="Segoe UI"/>
              </a:defRPr>
            </a:pPr>
            <a:r>
              <a:rPr>
                <a:solidFill>
                  <a:srgbClr val="0284C7"/>
                </a:solidFill>
                <a:hlinkClick r:id="rId2"/>
              </a:rPr>
              <a:t>https://www.youtube.com/watch?v=k5GkIaRUlsM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93192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6235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📱 投影大螢幕可直接掃描或點擊播放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21208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11D48"/>
                </a:solidFill>
                <a:latin typeface="Microsoft JhengHei"/>
              </a:defRPr>
            </a:pPr>
            <a:r>
              <a:t>⚠️ 特別警惕：毒品常偽裝成常見零食！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🍭  常見偽裝外觀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包裝成咖啡包、彩虹糖、果凍、跳跳糖、梅子粉或毒貼紙，外表難辨。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🔍  辨識破綻端倪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包裝圖案粗糙模糊、品牌拼音有誤、封口有二度壓痕折痕、來源不明。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🛡️  自保三不原則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不拿取、不拆封、不食用！若發現異狀，立即向導師或學務處報告。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🎬 官方宣導影音 ② · 教育部「我的未來我作主」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校園警惕微電影：《毒糖果，滾開!》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Microsoft JhengHei"/>
              </a:defRPr>
            </a:pPr>
            <a:r>
              <a:t>🎬 官方推薦播放影音</a:t>
            </a:r>
          </a:p>
          <a:p>
            <a:pPr>
              <a:spcBef>
                <a:spcPts val="1000"/>
              </a:spcBef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教育部得獎微電影：毒糖果，滾開!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觀看網址 (點擊或於瀏覽器開啟)：</a:t>
            </a:r>
          </a:p>
          <a:p>
            <a:pPr>
              <a:spcBef>
                <a:spcPts val="400"/>
              </a:spcBef>
              <a:defRPr sz="1300" b="1">
                <a:latin typeface="Segoe UI"/>
              </a:defRPr>
            </a:pPr>
            <a:r>
              <a:rPr>
                <a:solidFill>
                  <a:srgbClr val="0284C7"/>
                </a:solidFill>
                <a:hlinkClick r:id="rId2"/>
              </a:rPr>
              <a:t>https://www.youtube.com/watch?v=Ydw9sa7XW9c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93192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6235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📱 投影大螢幕可直接掃描或點擊播放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2120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💡 故事啟發：真的有吃了會變聰明的萬能糖嗎？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🚑  重創身體健康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誤食來路不明或摻毒的糖果，會導致嚴重頭暈、心悸、胸痛，甚至昏迷送醫！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✋  勇敢堅定拒絕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即使熟人、學長姊說是「獨家好料」、「吃了精力充沛」，只要來路不明堅決說不！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🤝  同學彼此互助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若發現同學拿到可疑包裝或出現不適症狀，主動關心並即時通報師長。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⚠️ 官方宣導影音 ③ · 行政院重磅法規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有害物質重創大腦：依托咪酯（全面禁止電子煙）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  <a:latin typeface="Microsoft JhengHei"/>
              </a:defRPr>
            </a:pPr>
            <a:r>
              <a:t>🎬 官方推薦播放影音</a:t>
            </a:r>
          </a:p>
          <a:p>
            <a:pPr>
              <a:spcBef>
                <a:spcPts val="1000"/>
              </a:spcBef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反毒宣導短片—依托咪酯（全面管制禁令）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觀看網址 (點擊或於瀏覽器開啟)：</a:t>
            </a:r>
          </a:p>
          <a:p>
            <a:pPr>
              <a:spcBef>
                <a:spcPts val="400"/>
              </a:spcBef>
              <a:defRPr sz="1300" b="1">
                <a:latin typeface="Segoe UI"/>
              </a:defRPr>
            </a:pPr>
            <a:r>
              <a:rPr>
                <a:solidFill>
                  <a:srgbClr val="0284C7"/>
                </a:solidFill>
                <a:hlinkClick r:id="rId2"/>
              </a:rPr>
              <a:t>https://www.youtube.com/watch?v=6cwthmcb8EE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93192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6235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📱 投影大螢幕可直接掃描或點擊播放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21208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11D48"/>
                </a:solidFill>
                <a:latin typeface="Microsoft JhengHei"/>
              </a:defRPr>
            </a:pPr>
            <a:r>
              <a:t>📢 重大通告：依托咪酯已升級列為毒品重罪！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🧠  神經系統崩潰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吸食含有依托咪酯的電子煙油，會導致中樞神經受損、意識混亂、全身抽搐宛如喪屍！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🚫  校園嚴格禁令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電子煙成分複雜不明、含有重金屬與化學毒物，依菸害防制法全面禁止校園攜帶！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🛡️  切勿好奇嘗試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千萬不可因為『嘗鮮、耍帥』而吸食任何煙品或不明煙彈，以免觸法毀前途！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🎬 官方宣導影音 ④ · 教育部防制藥物濫用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同儕相處與面對誘惑：《藥命的誘惑》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Microsoft JhengHei"/>
              </a:defRPr>
            </a:pPr>
            <a:r>
              <a:t>🎬 官方推薦播放影音</a:t>
            </a:r>
          </a:p>
          <a:p>
            <a:pPr>
              <a:spcBef>
                <a:spcPts val="1000"/>
              </a:spcBef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教育部微電影：藥命的誘惑（精華版）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觀看網址 (點擊或於瀏覽器開啟)：</a:t>
            </a:r>
          </a:p>
          <a:p>
            <a:pPr>
              <a:spcBef>
                <a:spcPts val="400"/>
              </a:spcBef>
              <a:defRPr sz="1300" b="1">
                <a:latin typeface="Segoe UI"/>
              </a:defRPr>
            </a:pPr>
            <a:r>
              <a:rPr>
                <a:solidFill>
                  <a:srgbClr val="0284C7"/>
                </a:solidFill>
                <a:hlinkClick r:id="rId2"/>
              </a:rPr>
              <a:t>https://www.youtube.com/watch?v=DuqGXL_hm_Y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93192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6235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📱 投影大螢幕可直接掃描或點擊播放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2120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🤝 健康交友守則：真朋友會保護你，不是害你！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🚗  一步錯步步錯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因同儕起鬨誤吸學長給的煙油，造成神智不清闖大禍，賠上人生自由與法律責任！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🏃  見招拆招脫身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面對『吸一口又不會怎樣、是不是不夠義氣』的壓力，堅定說不並迅速找藉口離開！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🌟  自律自信生活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真正的好朋友會互相砥礪成長，珍惜健康身體，不讓父母師長操心。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🎬 官方宣導影音 ⑤ · 臺南市政府毒防中心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反毒作伙來：臺南宮廟藝陣繞境街訪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Microsoft JhengHei"/>
              </a:defRPr>
            </a:pPr>
            <a:r>
              <a:t>🎬 官方推薦播放影音</a:t>
            </a:r>
          </a:p>
          <a:p>
            <a:pPr>
              <a:spcBef>
                <a:spcPts val="1000"/>
              </a:spcBef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【反毒作伙來x臺南宮廟藝陣】繞境街訪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觀看網址 (點擊或於瀏覽器開啟)：</a:t>
            </a:r>
          </a:p>
          <a:p>
            <a:pPr>
              <a:spcBef>
                <a:spcPts val="400"/>
              </a:spcBef>
              <a:defRPr sz="1300" b="1">
                <a:latin typeface="Segoe UI"/>
              </a:defRPr>
            </a:pPr>
            <a:r>
              <a:rPr>
                <a:solidFill>
                  <a:srgbClr val="0284C7"/>
                </a:solidFill>
                <a:hlinkClick r:id="rId2"/>
              </a:rPr>
              <a:t>https://www.youtube.com/watch?v=Mu8rbqiXjW8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93192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6235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📱 投影大螢幕可直接掃描或點擊播放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2120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🏮 傳統正氣能量：藝陣伙伴齊心反毒！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🎁  識破利誘陷阱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警惕校外不良人士利用『免費請吃大餐、請喝飲料、送遊戲點數』引誘學童聚集。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🏡  放學安全第一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下課後準時回家或前往安親班，不逗留宮廟神壇、網咖或複雜聲色場所。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👮  警政校園聯防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若在校外遇到可疑人士糾纏、要脅或販售不明物，第一時間報告學校與派出所！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⚠️ 重要防護觀念 · 保護自身安全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拒絕跑腿陷阱：不做運送不明物品的「小蜜蜂」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914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11D48"/>
                </a:solidFill>
                <a:latin typeface="Microsoft JhengHei"/>
              </a:defRPr>
            </a:pPr>
            <a:r>
              <a:t>🎒 常見的利誘陷阱（千萬別上當！）</a:t>
            </a:r>
          </a:p>
          <a:p>
            <a:pPr>
              <a:spcBef>
                <a:spcPts val="1200"/>
              </a:spcBef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🗣️ 「幫忙把這個紙袋拿到超商給人，500元給你買點心！」</a:t>
            </a:r>
          </a:p>
          <a:p>
            <a:pPr>
              <a:spcBef>
                <a:spcPts val="1200"/>
              </a:spcBef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📦 「這只是普通中藥跟茶葉，放你書包幫忙帶一下就好。」</a:t>
            </a:r>
          </a:p>
          <a:p>
            <a:pPr>
              <a:spcBef>
                <a:spcPts val="1200"/>
              </a:spcBef>
              <a:defRPr sz="1500" b="0">
                <a:solidFill>
                  <a:srgbClr val="334155"/>
                </a:solidFill>
                <a:latin typeface="Microsoft JhengHei"/>
              </a:defRPr>
            </a:pPr>
            <a:r>
              <a:t>🛵 「幫哥跑腿送個包裹，帶你吃好料、打電動！」</a:t>
            </a:r>
          </a:p>
          <a:p>
            <a:pPr>
              <a:spcBef>
                <a:spcPts val="1200"/>
              </a:spcBef>
              <a:defRPr sz="1400" b="1">
                <a:solidFill>
                  <a:srgbClr val="E11D48"/>
                </a:solidFill>
                <a:latin typeface="Microsoft JhengHei"/>
              </a:defRPr>
            </a:pPr>
            <a:r>
              <a:t>⚠️ 事實真相：不肖分子常利用學童年幼無知幫忙運送毒品！只要代拿代送，依法同樣屬於運毒共犯，將面臨極嚴重的少保處分與法律追訴！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2120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Microsoft JhengHei"/>
              </a:defRPr>
            </a:pPr>
            <a:r>
              <a:t>🛡️ 保護自己的「三不原則」</a:t>
            </a:r>
          </a:p>
          <a:p>
            <a:pPr>
              <a:spcBef>
                <a:spcPts val="1600"/>
              </a:spcBef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1️⃣ 不代收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絕不替任何陌生人、校外朋友或陌生鄰居代收來路不明的包裹與行李箱。</a:t>
            </a:r>
          </a:p>
          <a:p>
            <a:pPr>
              <a:spcBef>
                <a:spcPts val="1600"/>
              </a:spcBef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2️⃣ 不代送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絕不幫任何人拿紙袋、背包跑腿送東西，天下沒有白吃的午餐！</a:t>
            </a:r>
          </a:p>
          <a:p>
            <a:pPr>
              <a:spcBef>
                <a:spcPts val="1600"/>
              </a:spcBef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3️⃣ 速通報</a:t>
            </a:r>
          </a:p>
          <a:p>
            <a:pPr>
              <a:spcBef>
                <a:spcPts val="4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遇到有人利誘要求送貨，記下對方長相特徵與車牌，立刻告訴導師與學務處！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🎬 官方宣導影音 ⑥ · 臺南市政府毒防中心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溫馨動畫短片：愛從家庭出發，毒防中心伴您行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12064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Microsoft JhengHei"/>
              </a:defRPr>
            </a:pPr>
            <a:r>
              <a:t>🎬 官方推薦播放影音</a:t>
            </a:r>
          </a:p>
          <a:p>
            <a:pPr>
              <a:spcBef>
                <a:spcPts val="1000"/>
              </a:spcBef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愛從家庭出發~毒防中心伴您行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觀看網址 (點擊或於瀏覽器開啟)：</a:t>
            </a:r>
          </a:p>
          <a:p>
            <a:pPr>
              <a:spcBef>
                <a:spcPts val="400"/>
              </a:spcBef>
              <a:defRPr sz="1300" b="1">
                <a:latin typeface="Segoe UI"/>
              </a:defRPr>
            </a:pPr>
            <a:r>
              <a:rPr>
                <a:solidFill>
                  <a:srgbClr val="0284C7"/>
                </a:solidFill>
                <a:hlinkClick r:id="rId2"/>
              </a:rPr>
              <a:t>https://www.youtube.com/watch?v=s4N2eqxRJDE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393192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6235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📱 投影大螢幕可直接掃描或點擊播放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52120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❤️ 溫暖力量：家庭與學校是孩子最堅固的堡壘！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🏡  主動與家人傾訴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在學校或生活中遇到挫折、壓力或好奇疑惑，勇敢向家人、老師說出來。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🤝  尋求專業社工資源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毒防中心擁有專業社工、心理師與諮詢志工，隨時傾聽並提供溫暖陪伴。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🌈  培養多元健康休閒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透過閱讀、運動、音樂及社團活動充實生活，迎向陽光自信無毒人生！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🌐 數位學習探索 · 官方線上互動資源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國立自然科學博物館「視.反毒特展」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737360"/>
            <a:ext cx="9448495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94484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5943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Microsoft JhengHei"/>
              </a:defRPr>
            </a:pPr>
            <a:r>
              <a:t>🏛️ 教育部 × 科博館 3D 虛擬互動特展間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🌐  沉浸全景體驗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突破空間限制，打造 3D 虛擬全景線上展間，如臨現場互動探索。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👁️  視覺互動解析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透過多媒體展示深入淺出認識各類新興毒品樣態、偽裝陷阱與大腦危害。</a:t>
            </a:r>
          </a:p>
          <a:p>
            <a:pPr>
              <a:spcBef>
                <a:spcPts val="1400"/>
              </a:spcBef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🎒  課堂自主學習</a:t>
            </a:r>
          </a:p>
          <a:p>
            <a:pPr>
              <a:spcBef>
                <a:spcPts val="300"/>
              </a:spcBef>
              <a:defRPr sz="1500">
                <a:solidFill>
                  <a:srgbClr val="334155"/>
                </a:solidFill>
                <a:latin typeface="Microsoft JhengHei"/>
              </a:defRPr>
            </a:pPr>
            <a:r>
              <a:t>非常適合班級大螢幕投影導讀，或讓學生於課後使用平板自主參觀延伸學習。</a:t>
            </a:r>
          </a:p>
          <a:p>
            <a:pPr>
              <a:spcBef>
                <a:spcPts val="1600"/>
              </a:spcBef>
              <a:defRPr sz="1500" b="1">
                <a:latin typeface="Microsoft JhengHei"/>
              </a:defRPr>
            </a:pPr>
            <a:r>
              <a:t>線上展間網址： </a:t>
            </a:r>
            <a:r>
              <a:rPr>
                <a:solidFill>
                  <a:srgbClr val="0284C7"/>
                </a:solidFill>
                <a:hlinkClick r:id="rId2"/>
              </a:rPr>
              <a:t>https://antidrug.nmns.edu.tw/vision/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377440"/>
            <a:ext cx="21945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46634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Microsoft JhengHei"/>
              </a:defRPr>
            </a:pPr>
            <a:r>
              <a:t>📱 手機 / 平板 掃描直接參觀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8404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🤝 隨時求助 · 守護網絡就在身邊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你的健康守護神：毒防指南針與求助資源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3832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0B981"/>
                </a:solidFill>
                <a:latin typeface="Microsoft JhengHei"/>
              </a:defRPr>
            </a:pPr>
            <a:r>
              <a:t>LINE@ 臺南毒防指南針</a:t>
            </a:r>
          </a:p>
          <a:p>
            <a:pPr algn="ctr">
              <a:spcBef>
                <a:spcPts val="400"/>
              </a:spcBef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官方 ID: @0800770885tainan</a:t>
            </a:r>
            <a:br/>
            <a:r>
              <a:t>加入好友，隨時獲取最新毒防知能與即時諮詢服務。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246120"/>
            <a:ext cx="1554480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48920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latin typeface="Microsoft JhengHei"/>
              </a:defRPr>
            </a:pPr>
            <a:r>
              <a:rPr>
                <a:solidFill>
                  <a:srgbClr val="10B981"/>
                </a:solidFill>
                <a:hlinkClick r:id="rId3"/>
              </a:rPr>
              <a:t>🔗 點擊開啟網站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284C7"/>
                </a:solidFill>
                <a:latin typeface="Microsoft JhengHei"/>
              </a:defRPr>
            </a:pPr>
            <a:r>
              <a:t>臺南市防制藥物濫用網</a:t>
            </a:r>
          </a:p>
          <a:p>
            <a:pPr algn="ctr">
              <a:spcBef>
                <a:spcPts val="400"/>
              </a:spcBef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教育局官方專區，收錄校園宣導成果、十部反毒精選影片與教案簡報。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246120"/>
            <a:ext cx="1554480" cy="1554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26280" y="48920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latin typeface="Microsoft JhengHei"/>
              </a:defRPr>
            </a:pPr>
            <a:r>
              <a:rPr>
                <a:solidFill>
                  <a:srgbClr val="0284C7"/>
                </a:solidFill>
                <a:hlinkClick r:id="rId5"/>
              </a:rPr>
              <a:t>🔗 點擊開啟網站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83280" cy="37490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3383280" cy="914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333EA"/>
                </a:solidFill>
                <a:latin typeface="Microsoft JhengHei"/>
              </a:defRPr>
            </a:pPr>
            <a:r>
              <a:t>教育部藥物濫用資源網</a:t>
            </a:r>
          </a:p>
          <a:p>
            <a:pPr algn="ctr">
              <a:spcBef>
                <a:spcPts val="400"/>
              </a:spcBef>
              <a:defRPr sz="1200">
                <a:solidFill>
                  <a:srgbClr val="475569"/>
                </a:solidFill>
                <a:latin typeface="Microsoft JhengHei"/>
              </a:defRPr>
            </a:pPr>
            <a:r>
              <a:t>全國性春暉專案資源庫，包含各教育階段反毒教材、微電影與電子繪本。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0" y="3246120"/>
            <a:ext cx="1554480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83880" y="48920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latin typeface="Microsoft JhengHei"/>
              </a:defRPr>
            </a:pPr>
            <a:r>
              <a:rPr>
                <a:solidFill>
                  <a:srgbClr val="9333EA"/>
                </a:solidFill>
                <a:hlinkClick r:id="rId7"/>
              </a:rPr>
              <a:t>🔗 點擊開啟網站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2400E"/>
                </a:solidFill>
                <a:latin typeface="Microsoft JhengHei"/>
              </a:defRPr>
            </a:pPr>
            <a:r>
              <a:t>📞 24小時免付費反毒諮詢專線：0800-770-885（請請你，幫幫我） ｜ 🏫 新進國小學務處 生教組 關心您！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